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14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384048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914400"/>
            <a:ext cx="4876495" cy="2926080"/>
          </a:xfrm>
          <a:prstGeom prst="rect">
            <a:avLst/>
          </a:prstGeom>
          <a:solidFill>
            <a:srgbClr val="4A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45720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● redrob  │  H2S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INDIA.RUNS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37744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DDDD"/>
                </a:solidFill>
                <a:latin typeface="Calibri"/>
              </a:defRPr>
            </a:pPr>
            <a:r>
              <a:t>Build what next India runs 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Calibri"/>
              </a:rPr>
              <a:t>Team Name : </a:t>
            </a:r>
            <a:r>
              <a:rPr sz="1400" b="0">
                <a:solidFill>
                  <a:srgbClr val="333333"/>
                </a:solidFill>
                <a:latin typeface="Calibri"/>
              </a:rPr>
              <a:t>TOPGUN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Calibri"/>
              </a:rPr>
              <a:t>Team Leader Name : </a:t>
            </a:r>
            <a:r>
              <a:rPr sz="1400" b="0">
                <a:solidFill>
                  <a:srgbClr val="333333"/>
                </a:solidFill>
                <a:latin typeface="Calibri"/>
              </a:rPr>
              <a:t>Nethavath Praveen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Calibri"/>
              </a:rPr>
              <a:t>Problem Statement : </a:t>
            </a:r>
            <a:r>
              <a:rPr sz="1400" b="0">
                <a:solidFill>
                  <a:srgbClr val="333333"/>
                </a:solidFill>
                <a:latin typeface="Calibri"/>
              </a:rPr>
              <a:t>Build an intelligent candidate discovery &amp; ranking system that goes beyond keyword matching to evaluate 100,000+ profiles using semantic understanding, career trajectory analysis, and behavioral intent scoring — fully offline, in under 5 minutes.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6803136"/>
            <a:ext cx="406389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● redrob  │  H2S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803136"/>
            <a:ext cx="406389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●  Redrob AI Ranker —</a:t>
            </a:r>
            <a:r>
              <a:rPr sz="1300" b="0">
                <a:solidFill>
                  <a:srgbClr val="1E1E1E"/>
                </a:solidFill>
                <a:latin typeface="Calibri"/>
              </a:rPr>
              <a:t> A production-grade, fully offline AI candidate ranking engine that processes 100,000+ profiles in ~34 seconds with zero API calls, zero internet dependency, and fully transparent scoring.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●  Semantic Understanding:</a:t>
            </a:r>
            <a:r>
              <a:rPr sz="1300" b="0">
                <a:solidFill>
                  <a:srgbClr val="1E1E1E"/>
                </a:solidFill>
                <a:latin typeface="Calibri"/>
              </a:rPr>
              <a:t> Instead of counting keywords, skills are grouped into 5 semantic clusters (Core Programming, Vector DBs, Retrieval &amp; Ranking, LLM Engineering, Infrastructure). Candidates get credit for the entire cluster they demonstrate competency in.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●  What differentiates us:</a:t>
            </a:r>
            <a:r>
              <a:rPr sz="1300" b="0">
                <a:solidFill>
                  <a:srgbClr val="1E1E1E"/>
                </a:solidFill>
                <a:latin typeface="Calibri"/>
              </a:rPr>
              <a:t> We use TF-IDF weighted cluster matching, Needleman-Wunsch career alignment (from bioinformatics), PageRank-based corporate pedigree scoring, Shannon entropy anomaly detection, and a recruiter active learning loop — all running fully offline with Python's standard library.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●  Every ranking decision is explainable —</a:t>
            </a:r>
            <a:r>
              <a:rPr sz="1300" b="0">
                <a:solidFill>
                  <a:srgbClr val="1E1E1E"/>
                </a:solidFill>
                <a:latin typeface="Calibri"/>
              </a:rPr>
              <a:t> deterministic, data-driven XAI rationales are generated for each shortlisted candidate, not generic templates.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● redrob  │  H2S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803136"/>
            <a:ext cx="406389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Calibri"/>
              </a:defRPr>
            </a:pPr>
            <a:r>
              <a:t>JD Understanding &amp; Candidate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●  Key requirements extracted from the JD</a:t>
            </a:r>
            <a:r>
              <a:rPr sz="1300" b="0">
                <a:solidFill>
                  <a:srgbClr val="1E1E1E"/>
                </a:solidFill>
                <a:latin typeface="Calibri"/>
              </a:rPr>
              <a:t> are codified in a single JSON config (jd_rules.json): target role (Senior AI Engineer), ideal experience band (5–9 yrs), 5 semantic skill clusters with 50+ accepted technologies, preferred/acceptable locations, and company tier classifications.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●  Beyond keyword matching:</a:t>
            </a:r>
            <a:r>
              <a:rPr sz="1300" b="0">
                <a:solidFill>
                  <a:srgbClr val="1E1E1E"/>
                </a:solidFill>
                <a:latin typeface="Calibri"/>
              </a:rPr>
              <a:t> We evaluate candidate fit using IDF-weighted semantic cluster coverage, skill endorsement bonuses (up to 15%), platform assessment score integration, profile summary &amp; headline text mining, and a cohesion check that discounts advanced skills without foundational programming.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●  Full signal utilization:</a:t>
            </a:r>
            <a:r>
              <a:rPr sz="1300" b="0">
                <a:solidFill>
                  <a:srgbClr val="1E1E1E"/>
                </a:solidFill>
                <a:latin typeface="Calibri"/>
              </a:rPr>
              <a:t> Every field in the candidate schema is used — education tier, skill assessment scores, recruiter response rate, notice period, interview completion rate, offer acceptance rate, saved-by-recruiters count, and response time — not just skills and experience.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●  Anti-gaming integrity:</a:t>
            </a:r>
            <a:r>
              <a:rPr sz="1300" b="0">
                <a:solidFill>
                  <a:srgbClr val="1E1E1E"/>
                </a:solidFill>
                <a:latin typeface="Calibri"/>
              </a:rPr>
              <a:t> Honeypot detection filters out fake profiles using impossible skill claims, assessment contradictions, timeline inconsistencies, and Shannon entropy anomaly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● redrob  │  H2S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803136"/>
            <a:ext cx="406389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Calibri"/>
              </a:defRPr>
            </a:pPr>
            <a:r>
              <a:t>Ranking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37373"/>
                </a:solidFill>
                <a:latin typeface="Calibri"/>
              </a:defRPr>
            </a:pPr>
            <a:r>
              <a:t>4-AXIS WEIGHTED COMPOSITE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5029200" cy="146304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Calibri"/>
              </a:defRPr>
            </a:pPr>
            <a:r>
              <a:t>🧠 Semantic Competency —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Calibri"/>
              </a:defRPr>
            </a:pPr>
            <a:r>
              <a:t>TF-IDF weighted cluster matching across 5 skill domains. Endorsement bonuses, assessment score integration, and cohesion penalty for skills without foundational programming.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554480"/>
            <a:ext cx="5029200" cy="146304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📈 Career Trajectory — 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574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Calibri"/>
              </a:defRPr>
            </a:pPr>
            <a:r>
              <a:t>Needleman-Wunsch career sequence alignment, PageRank corporate pedigree, promotion velocity gradient, education tier scoring, and consulting penalty.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00400"/>
            <a:ext cx="5029200" cy="146304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alibri"/>
              </a:defRPr>
            </a:pPr>
            <a:r>
              <a:t>🎯 Behavioral Intent —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Calibri"/>
              </a:defRPr>
            </a:pPr>
            <a:r>
              <a:t>Recruiter response rate, open-to-work flag, notice period, interview completion rate, offer acceptance rate, saved-by-recruiters, response time, and exponential activity decay.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200400"/>
            <a:ext cx="5029200" cy="146304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337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📍 Location Intelligence — 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033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Calibri"/>
              </a:defRPr>
            </a:pPr>
            <a:r>
              <a:t>Preferred cities (full score), acceptable cities (0.7), willing-to-relocate (0.6), and remote/other (0.2 baseline).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37760"/>
            <a:ext cx="10515600" cy="502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560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DD6F4"/>
                </a:solidFill>
                <a:latin typeface="Consolas"/>
              </a:defRPr>
            </a:pPr>
            <a:r>
              <a:t>Final Score = (Skills × 0.40) + (Experience × 0.30) + (Behavior × 0.20) + (Location × 0.10)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● redrob  │  H2S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803136"/>
            <a:ext cx="406389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Calibri"/>
              </a:defRPr>
            </a:pPr>
            <a:r>
              <a:t>Explainability &amp; Data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●  How ranking decisions are explained:</a:t>
            </a:r>
            <a:r>
              <a:rPr sz="1200" b="0">
                <a:solidFill>
                  <a:srgbClr val="1E1E1E"/>
                </a:solidFill>
                <a:latin typeface="Calibri"/>
              </a:rPr>
              <a:t> Every shortlisted candidate receives a deterministic, context-aware XAI rationale built from actual matched clusters, career velocity metrics, and behavioral signals — not templates. Example: "Exceptional technical fit, covering 5/5 semantic clusters. 6.4 years of steady progression. Tier-1 academic background. Open to work, saved by 26 recruiters."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●  Preventing hallucinations:</a:t>
            </a:r>
            <a:r>
              <a:rPr sz="1200" b="0">
                <a:solidFill>
                  <a:srgbClr val="1E1E1E"/>
                </a:solidFill>
                <a:latin typeface="Calibri"/>
              </a:rPr>
              <a:t> The system is fully deterministic — no LLM inference, no probabilistic outputs. Every score is computed from explicit rules, every rationale is assembled from actual data points. Run it 100 times — identical output.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●  Handling suspicious profiles — Multi-layer honeypot detection:</a:t>
            </a:r>
            <a:r>
              <a:rPr sz="1200" b="0">
                <a:solidFill>
                  <a:srgbClr val="1E1E1E"/>
                </a:solidFill>
                <a:latin typeface="Calibri"/>
              </a:rPr>
              <a:t> "Expert" proficiency + 0 months usage = instant disqualification. Assessment contradiction: claims expert but scored &lt;30 on platform test. Timeline fraud: 10+ years stated, career history shows &lt;1 year. Shannon Entropy Anomaly: text entropy deviating &gt;2σ from population mean flags keyword-stuffed/machine-generated profiles.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● redrob  │  H2S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803136"/>
            <a:ext cx="406389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Calibri"/>
              </a:defRPr>
            </a:pPr>
            <a:r>
              <a:t>End-to-End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CLI RANKING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1554480" cy="8229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AAAACC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candidates.jsonl</a:t>
            </a:r>
            <a:br/>
            <a:r>
              <a:t>100K+ 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691640"/>
            <a:ext cx="1554480" cy="822960"/>
          </a:xfrm>
          <a:prstGeom prst="rect">
            <a:avLst/>
          </a:prstGeom>
          <a:solidFill>
            <a:srgbClr val="F9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7373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B5C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Pre-Scan</a:t>
            </a:r>
            <a:br/>
            <a:r>
              <a:t>TF-IDF · Entropy · PageRank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691640"/>
            <a:ext cx="1554480" cy="822960"/>
          </a:xfrm>
          <a:prstGeom prst="rect">
            <a:avLst/>
          </a:prstGeom>
          <a:solidFill>
            <a:srgbClr val="F9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7373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B5CF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Parallel Scoring</a:t>
            </a:r>
            <a:br/>
            <a:r>
              <a:t>N CPU cores · 4-axis 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91640"/>
            <a:ext cx="1554480" cy="822960"/>
          </a:xfrm>
          <a:prstGeom prst="rect">
            <a:avLst/>
          </a:prstGeom>
          <a:solidFill>
            <a:srgbClr val="F9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7373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B5CF6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Sort &amp; Rank</a:t>
            </a:r>
            <a:br/>
            <a:r>
              <a:t>Deterministic tie-break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691640"/>
            <a:ext cx="1554480" cy="822960"/>
          </a:xfrm>
          <a:prstGeom prst="rect">
            <a:avLst/>
          </a:prstGeom>
          <a:solidFill>
            <a:srgbClr val="F9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17373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B5CF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alibri"/>
              </a:defRPr>
            </a:pPr>
            <a:r>
              <a:t>XAI Reasoning</a:t>
            </a:r>
            <a:br/>
            <a:r>
              <a:t>Top-100 rationales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1691640"/>
            <a:ext cx="1554480" cy="8229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17373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AAAACC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team_submission.csv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INTERACTIVE DASHBOARD 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154680"/>
            <a:ext cx="1554480" cy="640080"/>
          </a:xfrm>
          <a:prstGeom prst="rect">
            <a:avLst/>
          </a:prstGeom>
          <a:solidFill>
            <a:srgbClr val="F9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200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B5CF6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3558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0A"/>
                </a:solidFill>
                <a:latin typeface="Calibri"/>
              </a:defRPr>
            </a:pPr>
            <a:r>
              <a:t>Define Role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32644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3154680"/>
            <a:ext cx="1554480" cy="640080"/>
          </a:xfrm>
          <a:prstGeom prst="rect">
            <a:avLst/>
          </a:prstGeom>
          <a:solidFill>
            <a:srgbClr val="F9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6040" y="3200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B5CF6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33558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0A"/>
                </a:solidFill>
                <a:latin typeface="Calibri"/>
              </a:defRPr>
            </a:pPr>
            <a:r>
              <a:t>Upload CSV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32644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3154680"/>
            <a:ext cx="1554480" cy="640080"/>
          </a:xfrm>
          <a:prstGeom prst="rect">
            <a:avLst/>
          </a:prstGeom>
          <a:solidFill>
            <a:srgbClr val="F9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3200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B5CF6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33558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0A"/>
                </a:solidFill>
                <a:latin typeface="Calibri"/>
              </a:defRPr>
            </a:pPr>
            <a:r>
              <a:t>Processing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32644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154680"/>
            <a:ext cx="1554480" cy="640080"/>
          </a:xfrm>
          <a:prstGeom prst="rect">
            <a:avLst/>
          </a:prstGeom>
          <a:solidFill>
            <a:srgbClr val="F9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3200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B5CF6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3558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0A"/>
                </a:solidFill>
                <a:latin typeface="Calibri"/>
              </a:defRPr>
            </a:pPr>
            <a:r>
              <a:t>Results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32644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3154680"/>
            <a:ext cx="1554480" cy="640080"/>
          </a:xfrm>
          <a:prstGeom prst="rect">
            <a:avLst/>
          </a:prstGeom>
          <a:solidFill>
            <a:srgbClr val="F9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3200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B5CF6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33558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0A"/>
                </a:solidFill>
                <a:latin typeface="Calibri"/>
              </a:defRPr>
            </a:pPr>
            <a:r>
              <a:t>Invite / Decline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32644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75520" y="3154680"/>
            <a:ext cx="1554480" cy="640080"/>
          </a:xfrm>
          <a:prstGeom prst="rect">
            <a:avLst/>
          </a:prstGeom>
          <a:solidFill>
            <a:srgbClr val="F9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21240" y="3200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B5CF6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33558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0A"/>
                </a:solidFill>
                <a:latin typeface="Calibri"/>
              </a:defRPr>
            </a:pPr>
            <a:r>
              <a:t>Active Learning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4114800"/>
            <a:ext cx="10515600" cy="77724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42062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A0A0A"/>
                </a:solidFill>
                <a:latin typeface="Calibri"/>
              </a:rPr>
              <a:t>Key: </a:t>
            </a:r>
            <a:r>
              <a:rPr sz="1000">
                <a:solidFill>
                  <a:srgbClr val="404040"/>
                </a:solidFill>
                <a:latin typeface="Calibri"/>
              </a:rPr>
              <a:t>The CLI engine (top row) generates the ranked CSV. The dashboard (bottom row) consumes it and lets recruiters interactively explore, compare, and provide feedback that updates scoring weights via a perceptron learning step. All processing is local — zero network calls.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● redrob  │  H2S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803136"/>
            <a:ext cx="406389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029200" cy="192024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LAYER 1 — RANKING ENGINE (PYTHON CLI)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Calibri"/>
              </a:rPr>
              <a:t>• run.py — </a:t>
            </a:r>
            <a:r>
              <a:rPr sz="900">
                <a:solidFill>
                  <a:srgbClr val="404040"/>
                </a:solidFill>
                <a:latin typeface="Calibri"/>
              </a:rPr>
              <a:t>Main orchestrator. Reads JSONL/GZ, runs pipeline, outputs CSV.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Calibri"/>
              </a:rPr>
              <a:t>• scorer.py — </a:t>
            </a:r>
            <a:r>
              <a:rPr sz="900">
                <a:solidFill>
                  <a:srgbClr val="404040"/>
                </a:solidFill>
                <a:latin typeface="Calibri"/>
              </a:rPr>
              <a:t>Core 4-axis scoring engine: semantic clusters, trajectory, behavior, location.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Calibri"/>
              </a:rPr>
              <a:t>• reasoning_engine.py — </a:t>
            </a:r>
            <a:r>
              <a:rPr sz="900">
                <a:solidFill>
                  <a:srgbClr val="404040"/>
                </a:solidFill>
                <a:latin typeface="Calibri"/>
              </a:rPr>
              <a:t>XAI rationale generator for top-100 candidates.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Calibri"/>
              </a:rPr>
              <a:t>• config.py — </a:t>
            </a:r>
            <a:r>
              <a:rPr sz="900">
                <a:solidFill>
                  <a:srgbClr val="404040"/>
                </a:solidFill>
                <a:latin typeface="Calibri"/>
              </a:rPr>
              <a:t>Loads jd_rules.json, defines scoring weights.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029200" cy="164592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PRE-SCAN PHASE (GLOBAL CONTEXT)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Calibri"/>
              </a:rPr>
              <a:t>• TF-IDF Calculator — </a:t>
            </a:r>
            <a:r>
              <a:rPr sz="900">
                <a:solidFill>
                  <a:srgbClr val="404040"/>
                </a:solidFill>
                <a:latin typeface="Calibri"/>
              </a:rPr>
              <a:t>Computes rarity weights across all keywords in pool.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Calibri"/>
              </a:rPr>
              <a:t>• PageRank Graph — </a:t>
            </a:r>
            <a:r>
              <a:rPr sz="900">
                <a:solidFill>
                  <a:srgbClr val="404040"/>
                </a:solidFill>
                <a:latin typeface="Calibri"/>
              </a:rPr>
              <a:t>Builds company transition graph, runs 10 iterations.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Calibri"/>
              </a:rPr>
              <a:t>• Shannon Entropy Baseline — </a:t>
            </a:r>
            <a:r>
              <a:rPr sz="900">
                <a:solidFill>
                  <a:srgbClr val="404040"/>
                </a:solidFill>
                <a:latin typeface="Calibri"/>
              </a:rPr>
              <a:t>Computes mean &amp; σ for anomaly detection.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5029200" cy="192024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490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LAYER 2 — INTERACTIVE DASHBOARD (HTML/JS)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69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04040"/>
                </a:solidFill>
                <a:latin typeface="Calibri"/>
              </a:rPr>
              <a:t>• Pure HTML + JavaScript single-file application.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04040"/>
                </a:solidFill>
                <a:latin typeface="Calibri"/>
              </a:rPr>
              <a:t>• No Node.js, no build steps, no npm, no framework.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04040"/>
                </a:solidFill>
                <a:latin typeface="Calibri"/>
              </a:rPr>
              <a:t>• Weight sliders, A/B comparison, active learning loop.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04040"/>
                </a:solidFill>
                <a:latin typeface="Calibri"/>
              </a:rPr>
              <a:t>• LocalStorage-persisted recruiter preference profiles.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57600"/>
            <a:ext cx="5029200" cy="192024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7490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ALGORITHMIC HIGHLIGHTS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069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Calibri"/>
              </a:rPr>
              <a:t>• Needleman-Wunsch — </a:t>
            </a:r>
            <a:r>
              <a:rPr sz="900">
                <a:solidFill>
                  <a:srgbClr val="404040"/>
                </a:solidFill>
                <a:latin typeface="Calibri"/>
              </a:rPr>
              <a:t>DP career sequence alignment (bioinformatics).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89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Calibri"/>
              </a:rPr>
              <a:t>• PageRank — </a:t>
            </a:r>
            <a:r>
              <a:rPr sz="900">
                <a:solidFill>
                  <a:srgbClr val="404040"/>
                </a:solidFill>
                <a:latin typeface="Calibri"/>
              </a:rPr>
              <a:t>Dynamic corporate pedigree scoring.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09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Calibri"/>
              </a:rPr>
              <a:t>• Shannon Entropy — </a:t>
            </a:r>
            <a:r>
              <a:rPr sz="900">
                <a:solidFill>
                  <a:srgbClr val="404040"/>
                </a:solidFill>
                <a:latin typeface="Calibri"/>
              </a:rPr>
              <a:t>Statistical anti-gaming detection.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029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Calibri"/>
              </a:rPr>
              <a:t>• RLRF — </a:t>
            </a:r>
            <a:r>
              <a:rPr sz="900">
                <a:solidFill>
                  <a:srgbClr val="404040"/>
                </a:solidFill>
                <a:latin typeface="Calibri"/>
              </a:rPr>
              <a:t>Single-layer perceptron for recruiter active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● redrob  │  H2S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803136"/>
            <a:ext cx="406389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Calibri"/>
              </a:defRPr>
            </a:pPr>
            <a:r>
              <a:t>Results &amp;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91840" cy="91440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100,000+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37373"/>
                </a:solidFill>
                <a:latin typeface="Calibri"/>
              </a:defRPr>
            </a:pPr>
            <a:r>
              <a:t>PROFILES PROCESSED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291840" cy="91440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~34s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74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37373"/>
                </a:solidFill>
                <a:latin typeface="Calibri"/>
              </a:defRPr>
            </a:pPr>
            <a:r>
              <a:t>PROCESSING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371600"/>
            <a:ext cx="3291840" cy="91440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8×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1874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37373"/>
                </a:solidFill>
                <a:latin typeface="Calibri"/>
              </a:defRPr>
            </a:pPr>
            <a:r>
              <a:t>FASTER THAN LIMIT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423160"/>
            <a:ext cx="3291840" cy="91440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14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&lt;200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37373"/>
                </a:solidFill>
                <a:latin typeface="Calibri"/>
              </a:defRPr>
            </a:pPr>
            <a:r>
              <a:t>RAM USAGE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423160"/>
            <a:ext cx="3291840" cy="91440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514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926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37373"/>
                </a:solidFill>
                <a:latin typeface="Calibri"/>
              </a:defRPr>
            </a:pPr>
            <a:r>
              <a:t>EXTERNAL API CALLS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2423160"/>
            <a:ext cx="3291840" cy="91440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2514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✓ Passed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2926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37373"/>
                </a:solidFill>
                <a:latin typeface="Calibri"/>
              </a:defRPr>
            </a:pPr>
            <a:r>
              <a:t>VALIDATION SCRIPT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31520" y="361188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657600"/>
              </a:tblGrid>
              <a:tr h="4267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0A0A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0A0A"/>
                          </a:solidFill>
                          <a:latin typeface="Calibri"/>
                        </a:defRPr>
                      </a:pPr>
                      <a:r>
                        <a:t>Our System</a:t>
                      </a:r>
                    </a:p>
                  </a:txBody>
                  <a:tcPr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0A0A"/>
                          </a:solidFill>
                          <a:latin typeface="Calibri"/>
                        </a:defRPr>
                      </a:pPr>
                      <a:r>
                        <a:t>Traditional ATS</a:t>
                      </a:r>
                    </a:p>
                  </a:txBody>
                  <a:tcPr>
                    <a:solidFill>
                      <a:srgbClr val="F8F7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Matching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Semantic cluster + TF-IDF + endorsements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Exact keyword frequency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Career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Needleman-Wunsch alignment + PageRank pedigree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Simple years-of-experience count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Anti-Gaming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Shannon entropy + multi-layer honeypot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Deterministic XAI rationale per 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None / generic template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Continuous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Recruiter feedback → perceptron weight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Manual rule tuning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● redrob  │  H2S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803136"/>
            <a:ext cx="406389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37373"/>
                </a:solidFill>
                <a:latin typeface="Calibri"/>
              </a:defRPr>
            </a:pPr>
            <a:r>
              <a:t>BACKEND /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5CF6"/>
                </a:solidFill>
                <a:latin typeface="Calibri"/>
              </a:defRPr>
            </a:pPr>
            <a:r>
              <a:t>Python 3.8+  •  multiprocessing  •  json  •  csv  •  math  •  re  •  gzip  •  argparse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37373"/>
                </a:solidFill>
                <a:latin typeface="Calibri"/>
              </a:defRPr>
            </a:pPr>
            <a:r>
              <a:t>ALGORITHMS &amp; 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7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alibri"/>
              </a:defRPr>
            </a:pPr>
            <a:r>
              <a:t>TF-IDF Weighting  •  Needleman-Wunsch DP  •  PageRank  •  Shannon Entropy  •  Exponential Decay  •  Perceptron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37373"/>
                </a:solidFill>
                <a:latin typeface="Calibri"/>
              </a:defRPr>
            </a:pPr>
            <a:r>
              <a:t>FRONTEND /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59669"/>
                </a:solidFill>
                <a:latin typeface="Calibri"/>
              </a:defRPr>
            </a:pPr>
            <a:r>
              <a:t>HTML5  •  Vanilla JavaScript  •  CSS3  •  LocalStorage API  •  Zero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371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37373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100" b="1">
                <a:solidFill>
                  <a:srgbClr val="0A0A0A"/>
                </a:solidFill>
                <a:latin typeface="Calibri"/>
              </a:rPr>
              <a:t>●  Pure Python stdlib:</a:t>
            </a:r>
            <a:r>
              <a:rPr sz="1100" b="0">
                <a:solidFill>
                  <a:srgbClr val="1E1E1E"/>
                </a:solidFill>
                <a:latin typeface="Calibri"/>
              </a:rPr>
              <a:t> Zero external dependencies for the core engine — no pip install required. Guarantees sandbox compatibility.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100" b="1">
                <a:solidFill>
                  <a:srgbClr val="0A0A0A"/>
                </a:solidFill>
                <a:latin typeface="Calibri"/>
              </a:rPr>
              <a:t>●  Multiprocessing pool:</a:t>
            </a:r>
            <a:r>
              <a:rPr sz="1100" b="0">
                <a:solidFill>
                  <a:srgbClr val="1E1E1E"/>
                </a:solidFill>
                <a:latin typeface="Calibri"/>
              </a:rPr>
              <a:t> Parallelizes scoring across all CPU cores with optimized chunk sizes for minimal IPC overhead.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100" b="1">
                <a:solidFill>
                  <a:srgbClr val="0A0A0A"/>
                </a:solidFill>
                <a:latin typeface="Calibri"/>
              </a:rPr>
              <a:t>●  Single-file frontend:</a:t>
            </a:r>
            <a:r>
              <a:rPr sz="1100" b="0">
                <a:solidFill>
                  <a:srgbClr val="1E1E1E"/>
                </a:solidFill>
                <a:latin typeface="Calibri"/>
              </a:rPr>
              <a:t> The entire dashboard is one HTML file — no Node.js, no build tools, no server required.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100" b="1">
                <a:solidFill>
                  <a:srgbClr val="0A0A0A"/>
                </a:solidFill>
                <a:latin typeface="Calibri"/>
              </a:rPr>
              <a:t>●  JSON-driven config:</a:t>
            </a:r>
            <a:r>
              <a:rPr sz="1100" b="0">
                <a:solidFill>
                  <a:srgbClr val="1E1E1E"/>
                </a:solidFill>
                <a:latin typeface="Calibri"/>
              </a:rPr>
              <a:t> All role requirements in one file — swap JD without code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● redrob  │  H2S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803136"/>
            <a:ext cx="406389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Calibri"/>
              </a:defRPr>
            </a:pPr>
            <a:r>
              <a:t>Submission Assets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515600" cy="59436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447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A0A0A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44752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Calibri"/>
              </a:rPr>
              <a:t>team_submission.csv — </a:t>
            </a:r>
            <a:r>
              <a:rPr sz="1000">
                <a:solidFill>
                  <a:srgbClr val="404040"/>
                </a:solidFill>
                <a:latin typeface="Calibri"/>
              </a:rPr>
              <a:t>Final ranked output with 100 candidates: candidate_id, rank, score, reasoning. Passed the official validate_submission.py with zero errors.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057400"/>
            <a:ext cx="10515600" cy="59436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305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A0A0A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30552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Calibri"/>
              </a:rPr>
              <a:t>run.py — </a:t>
            </a:r>
            <a:r>
              <a:rPr sz="1000">
                <a:solidFill>
                  <a:srgbClr val="404040"/>
                </a:solidFill>
                <a:latin typeface="Calibri"/>
              </a:rPr>
              <a:t>Main orchestrator script. Usage: python run.py --candidates candidates.jsonl --out team_submission.csv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10515600" cy="59436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163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A0A0A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816352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Calibri"/>
              </a:rPr>
              <a:t>src/ — </a:t>
            </a:r>
            <a:r>
              <a:rPr sz="1000">
                <a:solidFill>
                  <a:srgbClr val="404040"/>
                </a:solidFill>
                <a:latin typeface="Calibri"/>
              </a:rPr>
              <a:t>Core engine modules: scorer.py (4-axis ranking), reasoning_engine.py (XAI), config.py (weights &amp; JD rules loader)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29000"/>
            <a:ext cx="10515600" cy="59436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021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A0A0A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02152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Calibri"/>
              </a:rPr>
              <a:t>frontend/index.html — </a:t>
            </a:r>
            <a:r>
              <a:rPr sz="1000">
                <a:solidFill>
                  <a:srgbClr val="404040"/>
                </a:solidFill>
                <a:latin typeface="Calibri"/>
              </a:rPr>
              <a:t>Interactive recruiter dashboard. Zero-dependency single-file web app with weight sliders, candidate cards, search, and active learning.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10515600" cy="59436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879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A0A0A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187952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Calibri"/>
              </a:rPr>
              <a:t>data/jd_rules.json — </a:t>
            </a:r>
            <a:r>
              <a:rPr sz="1000">
                <a:solidFill>
                  <a:srgbClr val="404040"/>
                </a:solidFill>
                <a:latin typeface="Calibri"/>
              </a:rPr>
              <a:t>Job description configuration: role, semantic clusters, experience bands, locations, company tiers. Fully customizable without code changes.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00600"/>
            <a:ext cx="10515600" cy="59436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737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A0A0A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73752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Calibri"/>
              </a:rPr>
              <a:t>system_design.md — </a:t>
            </a:r>
            <a:r>
              <a:rPr sz="1000">
                <a:solidFill>
                  <a:srgbClr val="404040"/>
                </a:solidFill>
                <a:latin typeface="Calibri"/>
              </a:rPr>
              <a:t>Complete system architecture &amp; design specification with Mermaid diagrams and algorithmic formulas.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486400"/>
            <a:ext cx="10515600" cy="594360"/>
          </a:xfrm>
          <a:prstGeom prst="rect">
            <a:avLst/>
          </a:prstGeom>
          <a:solidFill>
            <a:srgbClr val="F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5595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A0A0A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559552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Calibri"/>
              </a:rPr>
              <a:t>GitHub Repo — </a:t>
            </a:r>
            <a:r>
              <a:rPr sz="1000">
                <a:solidFill>
                  <a:srgbClr val="404040"/>
                </a:solidFill>
                <a:latin typeface="Calibri"/>
              </a:rPr>
              <a:t>github.com/Praveen-ing/redrob-ai-ranker  |  AI Tools: Cursor/Gemini AI for code architecture and pair programming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1828800"/>
            <a:ext cx="4876495" cy="5029200"/>
          </a:xfrm>
          <a:prstGeom prst="rect">
            <a:avLst/>
          </a:prstGeom>
          <a:solidFill>
            <a:srgbClr val="4A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09728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● redrob  │  H2S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2004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DD"/>
                </a:solidFill>
                <a:latin typeface="Calibri"/>
              </a:defRPr>
            </a:pPr>
            <a:r>
              <a:t>Team TOPGUN — Building what next India runs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3A3A3"/>
                </a:solidFill>
                <a:latin typeface="Calibri"/>
              </a:defRPr>
            </a:pPr>
            <a:r>
              <a:t>Nethavath Praveen  ·  Sri Abhinaya  ·  Botsa Radesh  ·  Sai Sameer Killamsetti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66344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github.com/Praveen-ing/redrob-ai-ranker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7796" y="6803136"/>
            <a:ext cx="406389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